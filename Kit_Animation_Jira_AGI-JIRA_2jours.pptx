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52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574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1399032" y="20574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B71C2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685800" y="27706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B71C2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1399032" y="27706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 L'ANIMATEUR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1965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d'animation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999232" y="29260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Jira — AGI-JIRA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3703320"/>
            <a:ext cx="4480560" cy="566928"/>
          </a:xfrm>
          <a:prstGeom prst="roundRect">
            <a:avLst>
              <a:gd name="adj" fmla="val 50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017520" y="37033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2 jours · 14 heures · Présentiel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5074920"/>
            <a:ext cx="1645920" cy="745163"/>
          </a:xfrm>
          <a:prstGeom prst="roundRect">
            <a:avLst>
              <a:gd name="adj" fmla="val 981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2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5157216"/>
            <a:ext cx="1371600" cy="58057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937760" y="5230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condensée du programme officiel M2i (3 j / 21 h)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LA 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prérequis et objectifs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5074920" cy="932688"/>
          </a:xfrm>
          <a:prstGeom prst="roundRect">
            <a:avLst>
              <a:gd name="adj" fmla="val 8824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713232" y="194767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1298448" y="18196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98448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Développeurs, support, testeurs,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intégrateurs, équipiers Agile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743200"/>
            <a:ext cx="5074920" cy="932688"/>
          </a:xfrm>
          <a:prstGeom prst="roundRect">
            <a:avLst>
              <a:gd name="adj" fmla="val 8824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9"/>
          <p:cNvSpPr/>
          <p:nvPr/>
        </p:nvSpPr>
        <p:spPr>
          <a:xfrm>
            <a:off x="713232" y="299923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1298448" y="28712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98448" y="3154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 et pratique des méthodes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développement, notamment Agile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794760"/>
            <a:ext cx="5074920" cy="932688"/>
          </a:xfrm>
          <a:prstGeom prst="roundRect">
            <a:avLst>
              <a:gd name="adj" fmla="val 8824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713232" y="405079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1298448" y="39227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 conseillé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98448" y="4206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à 8 apprenants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poste + 1 compte Jira / personne)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4846320"/>
            <a:ext cx="5074920" cy="932688"/>
          </a:xfrm>
          <a:prstGeom prst="roundRect">
            <a:avLst>
              <a:gd name="adj" fmla="val 8824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7"/>
          <p:cNvSpPr/>
          <p:nvPr/>
        </p:nvSpPr>
        <p:spPr>
          <a:xfrm>
            <a:off x="713232" y="510235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8"/>
          <p:cNvSpPr/>
          <p:nvPr/>
        </p:nvSpPr>
        <p:spPr>
          <a:xfrm>
            <a:off x="1298448" y="4974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Modalité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98448" y="5257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Présentiel, salle équipée,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Jira dédiée (sandbox)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52160" y="1691640"/>
            <a:ext cx="5833872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Text 21"/>
          <p:cNvSpPr/>
          <p:nvPr/>
        </p:nvSpPr>
        <p:spPr>
          <a:xfrm>
            <a:off x="6144768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pédagogiques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44768" y="233172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614476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47104" y="23042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la gestion du suivi d'anomalies Jira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144768" y="276606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Text 26"/>
          <p:cNvSpPr/>
          <p:nvPr/>
        </p:nvSpPr>
        <p:spPr>
          <a:xfrm>
            <a:off x="6144768" y="27660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47104" y="27386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fonctionnalités de base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144768" y="3200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2" name="Text 29"/>
          <p:cNvSpPr/>
          <p:nvPr/>
        </p:nvSpPr>
        <p:spPr>
          <a:xfrm>
            <a:off x="614476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547104" y="31729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des utilisateurs et des projets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144768" y="36347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Text 32"/>
          <p:cNvSpPr/>
          <p:nvPr/>
        </p:nvSpPr>
        <p:spPr>
          <a:xfrm>
            <a:off x="6144768" y="3634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47104" y="36073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Affecter et suivre des demandes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144768" y="406908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8" name="Text 35"/>
          <p:cNvSpPr/>
          <p:nvPr/>
        </p:nvSpPr>
        <p:spPr>
          <a:xfrm>
            <a:off x="6144768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547104" y="40416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principaux tableaux de bord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6144768" y="450342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1" name="Text 38"/>
          <p:cNvSpPr/>
          <p:nvPr/>
        </p:nvSpPr>
        <p:spPr>
          <a:xfrm>
            <a:off x="6144768" y="45034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547104" y="44759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Administrer des workflows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144768" y="493776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4" name="Text 41"/>
          <p:cNvSpPr/>
          <p:nvPr/>
        </p:nvSpPr>
        <p:spPr>
          <a:xfrm>
            <a:off x="6144768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547104" y="4910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rapports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6144768" y="53721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7" name="Text 44"/>
          <p:cNvSpPr/>
          <p:nvPr/>
        </p:nvSpPr>
        <p:spPr>
          <a:xfrm>
            <a:off x="6144768" y="5372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547104" y="53446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Effectuer des recherches fines (JQL)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PÉDAGOGIQUE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pédagogie active, alignée sur la charte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7452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713232" y="186537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713232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35024" y="17922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théorie / pratique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35024" y="208483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~35 % apport / ~65 % manipulation. Chaque notion : démo animateur → atelier → quiz.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587752"/>
            <a:ext cx="7452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713232" y="276148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713232" y="2761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35024" y="26883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unique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35024" y="298094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métier MCO-AVION traverse les 2 jours : chaque notion s'ajoute à un contexte connu.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483864"/>
            <a:ext cx="7452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5"/>
          <p:cNvSpPr/>
          <p:nvPr/>
        </p:nvSpPr>
        <p:spPr>
          <a:xfrm>
            <a:off x="713232" y="365760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6"/>
          <p:cNvSpPr/>
          <p:nvPr/>
        </p:nvSpPr>
        <p:spPr>
          <a:xfrm>
            <a:off x="713232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35024" y="35844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continue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35024" y="387705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amont, formatif à chaque atelier, sommatif de synthèse, satisfaction.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4379976"/>
            <a:ext cx="7452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20"/>
          <p:cNvSpPr/>
          <p:nvPr/>
        </p:nvSpPr>
        <p:spPr>
          <a:xfrm>
            <a:off x="713232" y="4553712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Text 21"/>
          <p:cNvSpPr/>
          <p:nvPr/>
        </p:nvSpPr>
        <p:spPr>
          <a:xfrm>
            <a:off x="713232" y="4553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35024" y="4480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335024" y="477316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Binômes hétérogènes sur les ateliers longs ; défis bonus ⭐ comme variable d'ajustement.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183880" y="1691640"/>
            <a:ext cx="3502152" cy="3529584"/>
          </a:xfrm>
          <a:prstGeom prst="roundRect">
            <a:avLst>
              <a:gd name="adj" fmla="val 2350"/>
            </a:avLst>
          </a:prstGeom>
          <a:solidFill>
            <a:srgbClr val="FCEBEC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8" name="Shape 25"/>
          <p:cNvSpPr/>
          <p:nvPr/>
        </p:nvSpPr>
        <p:spPr>
          <a:xfrm>
            <a:off x="8412480" y="19202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Text 26"/>
          <p:cNvSpPr/>
          <p:nvPr/>
        </p:nvSpPr>
        <p:spPr>
          <a:xfrm>
            <a:off x="84124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41248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d'animation clé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41248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format court, tenir le temps est vital.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412480" y="320040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atelier a une durée plafond.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signal : montrer la correction et avancer.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&gt; 20 min de théorie sans manipulation.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MÉTIER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« MCO-AVION » — support de tous les ateliers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4"/>
          <p:cNvSpPr/>
          <p:nvPr/>
        </p:nvSpPr>
        <p:spPr>
          <a:xfrm>
            <a:off x="502920" y="1645920"/>
            <a:ext cx="3977640" cy="4297680"/>
          </a:xfrm>
          <a:prstGeom prst="roundRect">
            <a:avLst>
              <a:gd name="adj" fmla="val 2069"/>
            </a:avLst>
          </a:prstGeom>
          <a:solidFill>
            <a:srgbClr val="1C1F26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749808" y="1847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221284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développe et exploite MCO-AVION, plateforme de suivi du maintien en condition opérationnelle d'une flotte 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32461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techniques (anomalies sur aéronef),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&amp; actions correctives,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navigabilité avant remise en service.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5074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contexte exerce naturellement TOUTES les fonctions du programme.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45920"/>
          <a:ext cx="7022592" cy="3694176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Jira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Traduction MCO-AVION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de demandes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 technique, Anomalie logicielle, Évolution, Sous-tâche d'investigation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Avionique, Propulsion, Structure, Train d'atterrissage, Plateforme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Jalons plateforme (v1.0, v1.1) et lots de correctifs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Niveaux de sécurité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d'un fait technique (Diffusion restreinte vs. Standard)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Signalé → Trié → Investigation → Corrigé → Validation navigabilité → Clôturé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Rôles projet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 MCO, Investigateur, Autorité de navigabilité, Développeur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D'ÉVALUATION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Amont, continu, sommatif et satisfaction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3246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 matin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Positionnement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 de table + grille attentes / 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de chaque atelier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Livrable observable + quiz express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J2 après-midi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 de synthèse : mini-projet complet de A à 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J2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(à chaud)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Questionnaire M2i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J+30 (facultatif)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 sur la mise en application en poste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CEBEC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5"/>
          <p:cNvSpPr/>
          <p:nvPr/>
        </p:nvSpPr>
        <p:spPr>
          <a:xfrm>
            <a:off x="731520" y="56601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6"/>
          <p:cNvSpPr/>
          <p:nvPr/>
        </p:nvSpPr>
        <p:spPr>
          <a:xfrm>
            <a:off x="731520" y="5660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25880" y="5504688"/>
            <a:ext cx="1019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réussite (grille sommative) :  </a:t>
            </a: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projet, ses composants/versions, un champ personnalisé, un workflow à ≥ 4 statuts avec 1 condition et 1 post-fonction, un schéma de permissions, un filtre JQL enregistré et un tableau de bord — sans assistance.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REFONTE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 en passant de 3 jours à 2 jours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4"/>
          <p:cNvSpPr/>
          <p:nvPr/>
        </p:nvSpPr>
        <p:spPr>
          <a:xfrm>
            <a:off x="502920" y="16459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502920" y="1645920"/>
            <a:ext cx="2514600" cy="932688"/>
          </a:xfrm>
          <a:prstGeom prst="roundRect">
            <a:avLst>
              <a:gd name="adj" fmla="val 8824"/>
            </a:avLst>
          </a:prstGeom>
          <a:solidFill>
            <a:srgbClr val="FCEBE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685800" y="164592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Conservé en atelier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0" y="1773936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Utilisateurs/groupes/rôles, projet + import, composants/versions, permissions, champs custom, JQL, workflow custom, sprint agile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372600" y="177393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manipulations prouvent les objectifs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267919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502920" y="2679192"/>
            <a:ext cx="2514600" cy="932688"/>
          </a:xfrm>
          <a:prstGeom prst="roundRect">
            <a:avLst>
              <a:gd name="adj" fmla="val 8824"/>
            </a:avLst>
          </a:prstGeom>
          <a:solidFill>
            <a:srgbClr val="FCEBE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685800" y="2679192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Condensé (démo guidée)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0" y="2807208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écrans, vues/wallboards, rapports standards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372600" y="280720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sans manipulation longue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371246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5"/>
          <p:cNvSpPr/>
          <p:nvPr/>
        </p:nvSpPr>
        <p:spPr>
          <a:xfrm>
            <a:off x="502920" y="3712464"/>
            <a:ext cx="2514600" cy="932688"/>
          </a:xfrm>
          <a:prstGeom prst="roundRect">
            <a:avLst>
              <a:gd name="adj" fmla="val 8824"/>
            </a:avLst>
          </a:prstGeom>
          <a:solidFill>
            <a:srgbClr val="FCEBE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6"/>
          <p:cNvSpPr/>
          <p:nvPr/>
        </p:nvSpPr>
        <p:spPr>
          <a:xfrm>
            <a:off x="685800" y="371246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Survol / exposé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00400" y="384048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principes d'intégration, écosystème produits (M10)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372600" y="384048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 de culture, peu manipulables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4745736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20"/>
          <p:cNvSpPr/>
          <p:nvPr/>
        </p:nvSpPr>
        <p:spPr>
          <a:xfrm>
            <a:off x="502920" y="4745736"/>
            <a:ext cx="2514600" cy="932688"/>
          </a:xfrm>
          <a:prstGeom prst="roundRect">
            <a:avLst>
              <a:gd name="adj" fmla="val 8824"/>
            </a:avLst>
          </a:prstGeom>
          <a:solidFill>
            <a:srgbClr val="FCEBE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Text 21"/>
          <p:cNvSpPr/>
          <p:nvPr/>
        </p:nvSpPr>
        <p:spPr>
          <a:xfrm>
            <a:off x="685800" y="4745736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Fusionné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200400" y="4873752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ateliers → 7 ateliers ; modules M1+M2 et M6+M7 regroupés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372600" y="48737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 les redondances de contexte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02920" y="59436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: pour un public débutant en Agile ou un effectif &gt; 8, le format 3 jours reste préférable — le 2 jours ne permet plus la double boucle démo → atelier → défi.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 · DÉROULÉ (7 H)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Fondamentaux, administration &amp; structuration de projet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183112" cy="384048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Créneau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Séquence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09:00–09:15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Accueil, tour de table, positionnement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09:15–10:45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+ M2 (1/2) — démarrer, navigation ; admin système, utilisateurs, groupes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 + Atelier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11:00–12:30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(2/2) — droits, rôles, propriété/partage, projets (création, sécurité, import) ; backups (survol)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 + Atelier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14:00–15:45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+ M4 (1/2) — projet, membres, composants, versions ; affecter groupes aux rôles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 + Atelier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16:00–17:15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(2/2) — accès &amp; permissions, notifications ; test croisé des droits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Atelier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17:15–17:30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J1 + quiz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 · ATELIERS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ateliers structurants (fil rouge MCO-AVION)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4"/>
          <p:cNvSpPr/>
          <p:nvPr/>
        </p:nvSpPr>
        <p:spPr>
          <a:xfrm>
            <a:off x="502920" y="2194560"/>
            <a:ext cx="354482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704088" y="23957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70408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280160" y="237744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+ comptes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80160" y="2651760"/>
            <a:ext cx="258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35 min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22376" y="3017520"/>
            <a:ext cx="31059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connecter, personnaliser, repérer navigation/recherche/dashboard ; créer 3 utilisateurs (investigateur, autorité de navigabilité, développeur) et 2 groupes.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2376" y="5056632"/>
            <a:ext cx="3105912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722376" y="5093208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</a:t>
            </a:r>
            <a:r>
              <a:rPr lang="en-US" sz="100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peuplés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22064" y="2194560"/>
            <a:ext cx="354482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4523232" y="23957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452323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099304" y="237744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+ import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099304" y="2651760"/>
            <a:ext cx="258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45 min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41520" y="3017520"/>
            <a:ext cx="31059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projet MCO-AVION : catégorie, visibilité, niveau de sécurité ; importer le CSV de faits techniques fourni.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41520" y="5056632"/>
            <a:ext cx="3105912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4541520" y="5093208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</a:t>
            </a:r>
            <a:r>
              <a:rPr lang="en-US" sz="100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+ données importées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41208" y="2194560"/>
            <a:ext cx="354482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1"/>
          <p:cNvSpPr/>
          <p:nvPr/>
        </p:nvSpPr>
        <p:spPr>
          <a:xfrm>
            <a:off x="8342376" y="23957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2"/>
          <p:cNvSpPr/>
          <p:nvPr/>
        </p:nvSpPr>
        <p:spPr>
          <a:xfrm>
            <a:off x="834237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8918448" y="237744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&amp; sécuriser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918448" y="2651760"/>
            <a:ext cx="258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60 min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360664" y="3017520"/>
            <a:ext cx="31059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(Avionique, Propulsion, Structure, Train, Plateforme) + versions ; affecter les rôles ; permissions : seule l'Autorité de navigabilité peut clôturer.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360664" y="5056632"/>
            <a:ext cx="3105912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7"/>
          <p:cNvSpPr/>
          <p:nvPr/>
        </p:nvSpPr>
        <p:spPr>
          <a:xfrm>
            <a:off x="8360664" y="5093208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</a:t>
            </a:r>
            <a:r>
              <a:rPr lang="en-US" sz="100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développeur ne peut PAS clôturer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 · DÉROULÉ (7 H)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Demandes, workflows, recherche &amp; agilité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183112" cy="438912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Créneau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Séquence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09:00–09:15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 J1 (quiz éclair)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09:15–10:45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— demandes &amp; sous-tâches, champs, écrans, filtres, résolution, versions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 + Atelier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11:00–12:30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+ M7 — vues/dashboards ; concepts &amp; configuration workflow (transitions, conditions, post-fonctions)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 + Atelier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6 ·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14:00–15:00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 — JQL (basique → avancé), export, génération de rapports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 + Atelier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15:00–16:00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 — mode Agile, user stories, sprint, priorités, livraison, rapports (burndown)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 + Atelier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5 ·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16:15–16:40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 — intégration Jira (Confluence, Git, CI/CD, passerelles)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16:40–17:30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Évaluation sommative + bilan +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 · ATELIERS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ateliers : demandes, workflow, JQL, agilité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5454396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704088" y="1801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70408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Demandes, champs &amp; écrans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80160" y="2057400"/>
            <a:ext cx="4494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40 min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22376" y="2423160"/>
            <a:ext cx="501548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personnalisés « Aéronef concerné » et « Criticité navigabilité » ; organiser l'écran de création ; filtre partagé.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2376" y="3296412"/>
            <a:ext cx="5015484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722376" y="3332988"/>
            <a:ext cx="5015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</a:t>
            </a:r>
            <a:r>
              <a:rPr lang="en-US" sz="100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enregistré + écran épuré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1636" y="1600200"/>
            <a:ext cx="5454396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6432804" y="1801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643280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008876" y="1783080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+ dashboard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008876" y="2057400"/>
            <a:ext cx="4494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55 min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51092" y="2423160"/>
            <a:ext cx="501548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Signalé → … → Validation navigabilité → Clôturé avec 1 condition + 1 post-fonction ; dashboard par statut/composant.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51092" y="3296412"/>
            <a:ext cx="5015484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6451092" y="3332988"/>
            <a:ext cx="5015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</a:t>
            </a:r>
            <a:r>
              <a:rPr lang="en-US" sz="100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actif testé + dashboard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3954780"/>
            <a:ext cx="5454396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1"/>
          <p:cNvSpPr/>
          <p:nvPr/>
        </p:nvSpPr>
        <p:spPr>
          <a:xfrm>
            <a:off x="704088" y="41559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2"/>
          <p:cNvSpPr/>
          <p:nvPr/>
        </p:nvSpPr>
        <p:spPr>
          <a:xfrm>
            <a:off x="704088" y="4155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1280160" y="4137660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JQL &amp; export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280160" y="4411980"/>
            <a:ext cx="4494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40 min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22376" y="4777740"/>
            <a:ext cx="501548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requêtes JQL de difficulté croissante (component + status + ORDER BY) ; export CSV/Excel ; rapport.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22376" y="5650992"/>
            <a:ext cx="5015484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7"/>
          <p:cNvSpPr/>
          <p:nvPr/>
        </p:nvSpPr>
        <p:spPr>
          <a:xfrm>
            <a:off x="722376" y="5687568"/>
            <a:ext cx="5015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</a:t>
            </a:r>
            <a:r>
              <a:rPr lang="en-US" sz="100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+ fichier exporté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231636" y="3954780"/>
            <a:ext cx="5454396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Shape 29"/>
          <p:cNvSpPr/>
          <p:nvPr/>
        </p:nvSpPr>
        <p:spPr>
          <a:xfrm>
            <a:off x="6432804" y="41559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Text 30"/>
          <p:cNvSpPr/>
          <p:nvPr/>
        </p:nvSpPr>
        <p:spPr>
          <a:xfrm>
            <a:off x="6432804" y="4155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7008876" y="4137660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agile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7008876" y="4411980"/>
            <a:ext cx="4494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45 min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51092" y="4777740"/>
            <a:ext cx="501548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stories MCO, prioriser le backlog, planifier et démarrer un sprint, déplacer les tickets. ⭐ Bonus : burndown.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451092" y="5650992"/>
            <a:ext cx="5015484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5"/>
          <p:cNvSpPr/>
          <p:nvPr/>
        </p:nvSpPr>
        <p:spPr>
          <a:xfrm>
            <a:off x="6451092" y="5687568"/>
            <a:ext cx="5015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</a:t>
            </a:r>
            <a:r>
              <a:rPr lang="en-US" sz="100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planifié et démarré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PÉDAGOGIQUE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↔ modules ↔ ateliers ↔ preuve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436168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 pédagogique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Atelier(s)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Preuve d'atteinte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du suivi d'anomalies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· M5 · M7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d'anomalie opérationnel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Fonctionnalités de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autonome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utilisateurs &amp; projets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· M3 · M4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B ·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 + rôles +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Affecter et suivre des demandes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· M9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de vie d'un ticket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Visualiser les tableaux de bord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· M9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+ board agile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Administrer des 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· M7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+ post-fonction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Générer des rapports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 · M8 · M9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F ·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produit +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Recherches fines (JQL)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· M8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requêtes de difficulté croissante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053328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objectifs restent couverts : la réduction porte sur la profondeur de manipulation, pas sur le périmètre.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32688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À OUTILS DE L'ANIMATEUR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583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du temps &amp; points de vigilance</a:t>
            </a:r>
            <a:endParaRPr lang="en-US" sz="2700" dirty="0"/>
          </a:p>
        </p:txBody>
      </p:sp>
      <p:pic>
        <p:nvPicPr>
          <p:cNvPr id="5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57200"/>
            <a:ext cx="868680" cy="367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548640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98448" y="19568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du temps (format court)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25146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atelier a une durée plafond ; au signal, montrer la correction et avancer.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~5 min de tampon par demi-journée seulement.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d'ajustement si retard : sacrifier les défis ⭐ et raccourcir l'exposé M10.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amputer les ateliers C et E (cœur des objectifs 3 et 6).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691640"/>
            <a:ext cx="5486400" cy="4343400"/>
          </a:xfrm>
          <a:prstGeom prst="roundRect">
            <a:avLst>
              <a:gd name="adj" fmla="val 1895"/>
            </a:avLst>
          </a:prstGeom>
          <a:solidFill>
            <a:srgbClr val="FCEBEC"/>
          </a:solidFill>
          <a:ln w="12700">
            <a:solidFill>
              <a:srgbClr val="E4E6EA"/>
            </a:solidFill>
            <a:prstDash val="solid"/>
          </a:ln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6428232" y="192024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6428232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95160" y="19568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vigilance récurrents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46520" y="25146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rôle ≠ groupe : l'illustrer dès l'atelier A.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schémas (permissions, notifications, workflows) sont partagés entre projets : attention aux effets de bord en environnement mutualisé.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JQL, erreur fréquente : casse et guillemets sur les valeurs multi-mots.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Introduire la recherche à facettes AVANT le JQL (Jira traduit l'une en l'autre).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M2i · Formation Jira AGI-JIRA — Kit animateur (format 2 jours)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384048" cy="384048"/>
          </a:xfrm>
          <a:prstGeom prst="roundRect">
            <a:avLst>
              <a:gd name="adj" fmla="val 30952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1143000" y="640080"/>
            <a:ext cx="384048" cy="384048"/>
          </a:xfrm>
          <a:prstGeom prst="roundRect">
            <a:avLst>
              <a:gd name="adj" fmla="val 30952"/>
            </a:avLst>
          </a:prstGeom>
          <a:solidFill>
            <a:srgbClr val="B71C2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84048" cy="384048"/>
          </a:xfrm>
          <a:prstGeom prst="roundRect">
            <a:avLst>
              <a:gd name="adj" fmla="val 30952"/>
            </a:avLst>
          </a:prstGeom>
          <a:solidFill>
            <a:srgbClr val="B71C2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1143000" y="1097280"/>
            <a:ext cx="384048" cy="384048"/>
          </a:xfrm>
          <a:prstGeom prst="roundRect">
            <a:avLst>
              <a:gd name="adj" fmla="val 30952"/>
            </a:avLst>
          </a:prstGeom>
          <a:solidFill>
            <a:srgbClr val="E5232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complet, prêt à animer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2 jours du programme Jira AGI-JIRA — fil rouge MCO-AVION, évaluation continue, traçabilité pédagogique.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657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262A33"/>
          </a:solidFill>
          <a:ln w="12700">
            <a:solidFill>
              <a:srgbClr val="3439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85800" y="37673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85800" y="4553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(14 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262A33"/>
          </a:solidFill>
          <a:ln w="12700">
            <a:solidFill>
              <a:srgbClr val="3439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474720" y="37673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474720" y="4553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3657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262A33"/>
          </a:solidFill>
          <a:ln w="12700">
            <a:solidFill>
              <a:srgbClr val="3439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263640" y="37673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263640" y="4553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couverts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3657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262A33"/>
          </a:solidFill>
          <a:ln w="12700">
            <a:solidFill>
              <a:srgbClr val="3439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9052560" y="37673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5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052560" y="4553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métier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623560"/>
            <a:ext cx="1645920" cy="745163"/>
          </a:xfrm>
          <a:prstGeom prst="roundRect">
            <a:avLst>
              <a:gd name="adj" fmla="val 981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0A8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1" name="Image 0" descr="logo_m2i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05856"/>
            <a:ext cx="1371600" cy="58057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651760" y="5779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 fil rouge, les horaires et l'effectif au contexte réel de la session.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1804</Words>
  <Application>Microsoft Office PowerPoint</Application>
  <PresentationFormat>Grand écran</PresentationFormat>
  <Paragraphs>332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animation — Formation Jira AGI-JIRA (2 jours)</dc:title>
  <dc:subject>PptxGenJS Presentation</dc:subject>
  <dc:creator>Architecte applicatif</dc:creator>
  <cp:lastModifiedBy>Eddy K. DIABO</cp:lastModifiedBy>
  <cp:revision>2</cp:revision>
  <dcterms:created xsi:type="dcterms:W3CDTF">2026-07-05T19:43:00Z</dcterms:created>
  <dcterms:modified xsi:type="dcterms:W3CDTF">2026-07-05T19:51:20Z</dcterms:modified>
</cp:coreProperties>
</file>