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2B3A78"/>
                </a:solidFill>
              </a:rPr>
              <a:t>✈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 — Livret de cours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41248" y="3063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AGI-JIRA · présentation en salle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41248" y="3977640"/>
            <a:ext cx="6949440" cy="1371600"/>
          </a:xfrm>
          <a:prstGeom prst="roundRect">
            <a:avLst>
              <a:gd name="adj" fmla="val 6000"/>
            </a:avLst>
          </a:prstGeom>
          <a:solidFill>
            <a:srgbClr val="27346E"/>
          </a:solidFill>
          <a:ln w="12700">
            <a:solidFill>
              <a:srgbClr val="2734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160520"/>
            <a:ext cx="6492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 : projet MCO-AVION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Maintien en condition opérationnelle d'une flotte d'aéronefs — chaque notion du cours est illustrée par une capture réelle de l'instance de formation.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: développeurs, support, testeurs, intégrateurs, équipiers Agile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travailler avec ce cours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658368" cy="658368"/>
          </a:xfrm>
          <a:prstGeom prst="ellipse">
            <a:avLst/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53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13898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45920" y="17373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saurez faire à la fin du module.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304288"/>
            <a:ext cx="658368" cy="658368"/>
          </a:xfrm>
          <a:prstGeom prst="ellipse">
            <a:avLst/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3225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Contenu détaillé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45920" y="267004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notions expliquées simplement, schéma à l'appui.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36976"/>
            <a:ext cx="658368" cy="658368"/>
          </a:xfrm>
          <a:prstGeom prst="ellipse">
            <a:avLst/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186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45920" y="325526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45920" y="360273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points essentiels, à mémoriser.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169664"/>
            <a:ext cx="658368" cy="658368"/>
          </a:xfrm>
          <a:prstGeom prst="ellipse">
            <a:avLst/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513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41879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Atelier guidé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453542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manipulation pas à pas, à reproduire sur votre instance.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102352"/>
            <a:ext cx="658368" cy="658368"/>
          </a:xfrm>
          <a:prstGeom prst="ellipse">
            <a:avLst/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0840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45920" y="5120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Auto-évaluation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45920" y="546811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questions par module — corrigés en fin de livret.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1371600"/>
            <a:ext cx="3566160" cy="4553712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15727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OU DATA CENTER ?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66760" y="19659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concepts sont identiques dans les deux éditions. Seuls certains libellés de menus ou chemins d'administration diffèrent : fiez-vous aux notions, pas au pixel près.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37033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ROUGE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MCO-AVION sert d'exemple dans chaque module : mêmes écrans, mêmes gestes que vos ateliers.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66760" y="5029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de démonstration :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mco-avion.atlassian.net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44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Jira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95728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350008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&amp; gestion des utilisateurs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328416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10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282696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d'un projet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261104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428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215384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sécurité &amp; notifications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5193792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1755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5148072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demandes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92240" y="1463040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444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23760" y="1417320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de suivi &amp; tableaux de bord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92240" y="2395728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2350008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des workflows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328416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310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23760" y="3282696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données &amp; rapports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92240" y="4261104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2428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223760" y="4215384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&amp; l'Agilité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92240" y="5193792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51755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23760" y="5148072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 Jira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Glossaire et corrigés des auto-évaluations dans le livret stagiaire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Découvrir Jira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858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une « demande » (issue).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chose à faire, à corriger ou à décider devient un objet unique, identifié par une clé (ex. MCO-142), que l'on assigne, priorise, commente et suit dans le temps. La demande traverse des statuts, de sa création à sa clôture : Jira trace « qui fait quoi, où en est-on ».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hiérarchie des objets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481328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02152"/>
            <a:ext cx="1481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(site)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975104" y="349300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340864" y="3520440"/>
            <a:ext cx="1481328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3502152"/>
            <a:ext cx="1481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67328" y="349300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33088" y="3520440"/>
            <a:ext cx="1481328" cy="658368"/>
          </a:xfrm>
          <a:prstGeom prst="roundRect">
            <a:avLst>
              <a:gd name="adj" fmla="val 47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502152"/>
            <a:ext cx="1481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559552" y="349300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25312" y="3520440"/>
            <a:ext cx="1481328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5312" y="3502152"/>
            <a:ext cx="1481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Sous-tâche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: mco-avion.atlassian.net → MCO-AVION → MCO-142 → « Analyser le palier 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6858000" cy="13716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07492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repérer : </a:t>
            </a:r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supérieure (recherche, projets, filtres, tableaux de bord), bouton Créer, roue crantée d'administration. Une demande ouverte = champs + statut + fil d'activité.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726680" y="1325880"/>
            <a:ext cx="3977640" cy="2834640"/>
          </a:xfrm>
          <a:prstGeom prst="roundRect">
            <a:avLst>
              <a:gd name="adj" fmla="val 290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47218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0" y="1828800"/>
            <a:ext cx="35204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une « demande » : anomalie, tâche, évolution, user story.</a:t>
            </a:r>
            <a:endParaRPr lang="en-US" sz="1250" dirty="0"/>
          </a:p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: instance → projet → demande → sous-tâche.</a:t>
            </a:r>
            <a:endParaRPr lang="en-US" sz="1250" dirty="0"/>
          </a:p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et Data Center : mêmes concepts, menus légèrement différents.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26680" y="4343400"/>
            <a:ext cx="3977640" cy="1920240"/>
          </a:xfrm>
          <a:prstGeom prst="roundRect">
            <a:avLst>
              <a:gd name="adj" fmla="val 428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452628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d'auto-formation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community.atlassian.com et la documentation officielle : la plupart des questions courantes y sont déjà traitées.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 &amp; utilisateurs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087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SYSTÈME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l'instance : utilisateurs, applications, sécurité, sauvegardes.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de PROJET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précis : composants, versions, schémas. Les options visibles dépendent de vos droits.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chaîne d'attribution des droits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481328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79392"/>
            <a:ext cx="1481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975104" y="427024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340864" y="4297680"/>
            <a:ext cx="1481328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40864" y="4279392"/>
            <a:ext cx="1481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67328" y="427024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133088" y="4297680"/>
            <a:ext cx="1481328" cy="658368"/>
          </a:xfrm>
          <a:prstGeom prst="roundRect">
            <a:avLst>
              <a:gd name="adj" fmla="val 47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33088" y="4279392"/>
            <a:ext cx="1481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projet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59552" y="427024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25312" y="4297680"/>
            <a:ext cx="1481328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4279392"/>
            <a:ext cx="14813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= global à l'instance · Rôle = défini projet par projet, peuplé d'utilisateurs ou de groupes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577840"/>
            <a:ext cx="6858000" cy="868680"/>
          </a:xfrm>
          <a:prstGeom prst="roundRect">
            <a:avLst>
              <a:gd name="adj" fmla="val 9474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68756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Bonne pratique :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accorde les droits aux RÔLES, pas aux personnes — puis on ajoute/retire des personnes du rôle.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26680" y="1325880"/>
            <a:ext cx="3977640" cy="2834640"/>
          </a:xfrm>
          <a:prstGeom prst="roundRect">
            <a:avLst>
              <a:gd name="adj" fmla="val 290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147218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55280" y="1828800"/>
            <a:ext cx="35204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système (instance) ≠ admin de projet (un seul projet).</a:t>
            </a:r>
            <a:endParaRPr lang="en-US" sz="1250" dirty="0"/>
          </a:p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= global ; rôle = local au projet.</a:t>
            </a:r>
            <a:endParaRPr lang="en-US" sz="1250" dirty="0"/>
          </a:p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→ rôles → groupes/personnes : jamais l'inverse.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26680" y="4343400"/>
            <a:ext cx="3977640" cy="2103120"/>
          </a:xfrm>
          <a:prstGeom prst="roundRect">
            <a:avLst>
              <a:gd name="adj" fmla="val 391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452628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notions à distinguer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— un compte individuel.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— ensemble d'utilisateurs, global, porte l'accès (licence).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projet — Administrateur, Développeur… peuplé par projet.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d'un projet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création : un modèle, un nom, une clé (MCO → MCO-1, MCO-2…)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Géré par l'ÉQUIPE (team-managed)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 et simple à configurer ; paramétrage local au projet, sans composants ni schémas partagés.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116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Géré par l'ENTREPRISE (company-managed)  ★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Schémas partagés, administrés centralement : le bon choix pour des workflows et permissions fins et cohérents entre projets.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Subdivisions internes : Avionique, Propulsion, Structure, Train, Plateforme. Responsable par défaut = routage automatique des demandes ; base des statistiques par sous-système.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63640" y="370332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88620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de livraison (v1.0, « Lot correctif 1 »). Version AFFECTÉE = où le problème est apparu · version CORRIGÉE = où il est résolu. Précieux pour tracer, en contexte réglementé, la configuration en cause.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du module : structurer MCO-AVION — composants, versions, version affectée sur une demande (voir diapositive suivante).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Permissions, sécurité &amp; notifications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39312" cy="288036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32004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de permissions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« telle permission → tel rôle/groupe » : créer, modifier, transiter, clôturer, assigner… Un même schéma est RÉUTILISABLE par plusieurs projets.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62272" y="1371600"/>
            <a:ext cx="3639312" cy="2880360"/>
          </a:xfrm>
          <a:prstGeom prst="roundRect">
            <a:avLst>
              <a:gd name="adj" fmla="val 285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1572768"/>
            <a:ext cx="32004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sécurité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Restreignent la visibilité d'UNE demande précise : un fait technique « Diffusion restreinte » n'est vu que des investigateurs et de l'autorité de navigabilité.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75904" y="1371600"/>
            <a:ext cx="3639312" cy="2880360"/>
          </a:xfrm>
          <a:prstGeom prst="roundRect">
            <a:avLst>
              <a:gd name="adj" fmla="val 285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04504" y="1572768"/>
            <a:ext cx="32004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reçoit un message, pour quel évènement : création, commentaire, changement de statut, affectation. Bien réglé : informer sans noyer.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507992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Effet de bord : </a:t>
            </a:r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 schéma partagé modifie TOUS les projets qui l'utilisent. En environnement mutualisé (salle de formation), c'est l'erreur la plus fréquente.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4924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495544"/>
            <a:ext cx="1072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852160"/>
            <a:ext cx="107259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de permissions = « qui peut faire quoi », mutualisable.</a:t>
            </a:r>
            <a:endParaRPr lang="en-US" sz="1250" dirty="0"/>
          </a:p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sécurité = visibilité d'une demande ≠ permissions du projet.</a:t>
            </a:r>
            <a:endParaRPr lang="en-US" sz="1250" dirty="0"/>
          </a:p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: notifier des rôles précis, pas « tout le monde ».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demandes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demande = des champs, organisés et affichés via des écrans.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systèmes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Résumé, description, statut, priorité, personne assignée, rapporteur, composants, versions…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personnalisés (custom)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Créés pour le métier : « Aéronef concerné », « Criticité navigabilité »…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1168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Décident quels champs apparaissent — et dans quel ordre — à la création, l'édition et la visualisation. Un champ existe indépendamment de son affichage : c'est l'écran qui le montre.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sous-tâches : chaque demande a un type ; une sous-tâche découpe une parente.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891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classique : statut ≠ résolution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STATUT dit où en est la demande (« Terminé ») ; la RÉSOLUTION dit comment elle s'est terminée (« Résolu », « Ne sera pas corrigé »). Une demande n'est close que si sa résolution est renseignée.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420624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3891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&amp; JQL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filtre = une recherche enregistrée, nommée, partageable. On construit à facettes (menus), puis on bascule en JQL pour affiner — module 8. Les filtres alimenteront gadgets et tableaux de bord — module 6.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Vues de suivi &amp; tableaux de bord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D'où viennent les données d'un tableau de bord 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078736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56232"/>
            <a:ext cx="20787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(requête)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72512" y="184708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38272" y="1874520"/>
            <a:ext cx="2078736" cy="658368"/>
          </a:xfrm>
          <a:prstGeom prst="roundRect">
            <a:avLst>
              <a:gd name="adj" fmla="val 47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38272" y="1856232"/>
            <a:ext cx="20787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Gadget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62144" y="184708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327904" y="1874520"/>
            <a:ext cx="2078736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7904" y="1856232"/>
            <a:ext cx="20787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Compteurs, camemberts, graphiques, listes : chaque gadget s'alimente d'un filtre — de bons filtres (modules 5 et 8) font de bons tableaux de bord. Personnel ou partagé avec l'équipe.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6858000" cy="2560320"/>
          </a:xfrm>
          <a:prstGeom prst="roundRect">
            <a:avLst>
              <a:gd name="adj" fmla="val 3214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7764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« Pilotage MCO »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techniques par statut (camembert)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par composant (camembert)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en attente de validation navigabilité (liste)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726680" y="1325880"/>
            <a:ext cx="3977640" cy="3108960"/>
          </a:xfrm>
          <a:prstGeom prst="roundRect">
            <a:avLst>
              <a:gd name="adj" fmla="val 264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47218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55280" y="1828800"/>
            <a:ext cx="35204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gadget tire ses données d'un filtre (recherche enregistrée).</a:t>
            </a:r>
            <a:endParaRPr lang="en-US" sz="1250" dirty="0"/>
          </a:p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: personnel ou partagé.</a:t>
            </a:r>
            <a:endParaRPr lang="en-US" sz="1250" dirty="0"/>
          </a:p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Wallboard = affichage plein écran mural · vue de workflow = statuts et transitions en graphique.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26680" y="4617720"/>
            <a:ext cx="3977640" cy="1737360"/>
          </a:xfrm>
          <a:prstGeom prst="roundRect">
            <a:avLst>
              <a:gd name="adj" fmla="val 4737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480060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salle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Projetez le wallboard de l'équipe : les colonnes bougent en direct pendant le sprint.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 des workflows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workflow de navigabilité MCO-AVION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604772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64792"/>
            <a:ext cx="16047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98548" y="175564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464308" y="1783080"/>
            <a:ext cx="1604772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4308" y="1764792"/>
            <a:ext cx="16047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14216" y="175564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9976" y="1783080"/>
            <a:ext cx="1604772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9976" y="1764792"/>
            <a:ext cx="16047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investigation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29884" y="175564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95644" y="1783080"/>
            <a:ext cx="1604772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5644" y="1764792"/>
            <a:ext cx="16047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45552" y="175564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11312" y="1783080"/>
            <a:ext cx="1604772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1312" y="1764792"/>
            <a:ext cx="16047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navigabilité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61220" y="175564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0126980" y="1783080"/>
            <a:ext cx="1604772" cy="658368"/>
          </a:xfrm>
          <a:prstGeom prst="roundRect">
            <a:avLst>
              <a:gd name="adj" fmla="val 4722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26980" y="1764792"/>
            <a:ext cx="16047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2606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(états possibles) reliés par des transitions (passages autorisés). Jira fournit « À faire → En cours → Terminé » ; on l'enrichit selon le métier.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3639312" cy="2377440"/>
          </a:xfrm>
          <a:prstGeom prst="roundRect">
            <a:avLst>
              <a:gd name="adj" fmla="val 346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49300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89888" y="34930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77240" y="40690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le droit de déclencher la transition. Non remplie ? La transition n'apparaît même pas.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: seul le rôle Autorité de navigabilité peut clôturer.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62272" y="3291840"/>
            <a:ext cx="3639312" cy="2377440"/>
          </a:xfrm>
          <a:prstGeom prst="roundRect">
            <a:avLst>
              <a:gd name="adj" fmla="val 346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90872" y="349300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4930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Validateur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690872" y="40690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une donnée au moment de la transition. Échec ? Transition refusée.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: champ obligatoire renseigné.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75904" y="3291840"/>
            <a:ext cx="3639312" cy="2377440"/>
          </a:xfrm>
          <a:prstGeom prst="roundRect">
            <a:avLst>
              <a:gd name="adj" fmla="val 346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04504" y="349300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04504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217152" y="34930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Post-fonction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8604504" y="40690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exécutée automatiquement après la transition.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: renseigner la résolution à la clôture — la bonne pratique.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5897880"/>
            <a:ext cx="11183112" cy="658368"/>
          </a:xfrm>
          <a:prstGeom prst="roundRect">
            <a:avLst>
              <a:gd name="adj" fmla="val 12500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952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MCO-AVION :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« Validation navigabilité → Clôturé » porte une condition (rôle) ET une post-fonction (résolution) — c'est l'atelier.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Recherche de données &amp; rapports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recherche à facettes au JQL : Jira traduit l'une en l'autre — le meilleur moyen d'apprendre.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6858000" cy="155448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champ  ·  opérateur  ·  valeur      AND / OR / NOT      ORDER BY (facultatif)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= "MCO" AND status = "To Do" ORDER BY priority DESC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utiles : currentUser(), now() · mots-clés IN, WAS, CHANGED (historique)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6858000" cy="1005840"/>
          </a:xfrm>
          <a:prstGeom prst="roundRect">
            <a:avLst>
              <a:gd name="adj" fmla="val 8182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24528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: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guillemets obligatoires pour les valeurs multi-mots (status = "En investigation") — et l'interface peut afficher « À faire » quand la valeur JQL est le nom interne « To Do ».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303520"/>
            <a:ext cx="6858000" cy="1051560"/>
          </a:xfrm>
          <a:prstGeom prst="roundRect">
            <a:avLst>
              <a:gd name="adj" fmla="val 782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4406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Restituer hors de Jira :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CSV/Excel, XML, HTML, Word — et rapports intégrés (création/résolution, burndown, vélocité).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1874520"/>
            <a:ext cx="3977640" cy="2788920"/>
          </a:xfrm>
          <a:prstGeom prst="roundRect">
            <a:avLst>
              <a:gd name="adj" fmla="val 29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202082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0" y="237744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Commencer à facettes, basculer en JQL pour apprendre.</a:t>
            </a:r>
            <a:endParaRPr lang="en-US" sz="1250" dirty="0"/>
          </a:p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: champ opérateur valeur + AND/OR + ORDER BY.</a:t>
            </a:r>
            <a:endParaRPr lang="en-US" sz="1250" dirty="0"/>
          </a:p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filtre enregistré devient gadget de tableau de bord.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26680" y="4846320"/>
            <a:ext cx="3977640" cy="1508760"/>
          </a:xfrm>
          <a:prstGeom prst="roundRect">
            <a:avLst>
              <a:gd name="adj" fmla="val 5455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50292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filtre = un livrable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Mes faits techniques ouverts » sert au quotidien ET alimente le tableau Pilotage MCO.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 &amp; l'Agilité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flux agile dans Jira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987906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64792"/>
            <a:ext cx="198790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priorisé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81682" y="175564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47442" y="1783080"/>
            <a:ext cx="1987906" cy="658368"/>
          </a:xfrm>
          <a:prstGeom prst="roundRect">
            <a:avLst>
              <a:gd name="adj" fmla="val 47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47442" y="1764792"/>
            <a:ext cx="198790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80483" y="175564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46243" y="1783080"/>
            <a:ext cx="1987906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6243" y="1764792"/>
            <a:ext cx="198790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79285" y="175564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45045" y="1783080"/>
            <a:ext cx="1987906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45045" y="1764792"/>
            <a:ext cx="198790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78086" y="1755648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743846" y="1783080"/>
            <a:ext cx="1987906" cy="658368"/>
          </a:xfrm>
          <a:prstGeom prst="roundRect">
            <a:avLst>
              <a:gd name="adj" fmla="val 47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43846" y="1764792"/>
            <a:ext cx="198790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83464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0175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priorisée de tout ce qui reste à faire (stories, tickets). L'ordre vertical EST la priorité.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462272" y="283464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30175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besoin exprimé côté utilisateur : « En tant que…, je veux…, afin de… ».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375904" y="2834640"/>
            <a:ext cx="3639312" cy="178308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04504" y="30175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 de durée fixe (ex. 2 semaines) : l'équipe s'engage sur un lot tiré du backlog, le board matérialise l'avancement.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48640" y="484632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0292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travail RESTANT jour après jour — idéalement décroissant vers zéro (le burnup se lit en miroir).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263640" y="484632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50292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Vélocité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capacité RÉALISÉE par sprint — la base pour mieux planifier les sprints suivants.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29260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Intégration de Jira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 flipH="1">
            <a:off x="1828800" y="1943100"/>
            <a:ext cx="1463040" cy="1851660"/>
          </a:xfrm>
          <a:prstGeom prst="line">
            <a:avLst/>
          </a:prstGeom>
          <a:noFill/>
          <a:ln w="19050">
            <a:solidFill>
              <a:srgbClr val="9FB4E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3291840" y="1943100"/>
            <a:ext cx="1920240" cy="1851660"/>
          </a:xfrm>
          <a:prstGeom prst="line">
            <a:avLst/>
          </a:prstGeom>
          <a:noFill/>
          <a:ln w="19050">
            <a:solidFill>
              <a:srgbClr val="9FB4E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H="1" flipV="1">
            <a:off x="1828800" y="3794760"/>
            <a:ext cx="1463040" cy="1851660"/>
          </a:xfrm>
          <a:prstGeom prst="line">
            <a:avLst/>
          </a:prstGeom>
          <a:noFill/>
          <a:ln w="19050">
            <a:solidFill>
              <a:srgbClr val="9FB4E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91840" y="3794760"/>
            <a:ext cx="1920240" cy="1851660"/>
          </a:xfrm>
          <a:prstGeom prst="line">
            <a:avLst/>
          </a:prstGeom>
          <a:noFill/>
          <a:ln w="19050">
            <a:solidFill>
              <a:srgbClr val="9FB4E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331720" y="2834640"/>
            <a:ext cx="1920240" cy="1920240"/>
          </a:xfrm>
          <a:prstGeom prst="ellipse">
            <a:avLst/>
          </a:prstGeom>
          <a:solidFill>
            <a:srgbClr val="1E2761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283464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1417320"/>
            <a:ext cx="2377440" cy="1051560"/>
          </a:xfrm>
          <a:prstGeom prst="roundRect">
            <a:avLst>
              <a:gd name="adj" fmla="val 782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527048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liée aux demandes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1417320"/>
            <a:ext cx="2377440" cy="1051560"/>
          </a:xfrm>
          <a:prstGeom prst="roundRect">
            <a:avLst>
              <a:gd name="adj" fmla="val 782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7952" y="1527048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— Bitbucket · GitHub · GitLab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commits, PR liés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2377440" cy="1051560"/>
          </a:xfrm>
          <a:prstGeom prst="roundRect">
            <a:avLst>
              <a:gd name="adj" fmla="val 782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5230368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&amp; déploiements rattachés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23360" y="5120640"/>
            <a:ext cx="2377440" cy="1051560"/>
          </a:xfrm>
          <a:prstGeom prst="roundRect">
            <a:avLst>
              <a:gd name="adj" fmla="val 7826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87952" y="5230368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&amp; API REST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apps, webhooks, passerelles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1371600"/>
            <a:ext cx="4983480" cy="27432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160020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STRATÉGIQUE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de bout en bout : de l'exigence au code, puis à la livraison.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contexte réglementé — le suivi de navigabilité MCO-AVION — cette traçabilité démontre, preuve à l'appui, qu'une anomalie a été traitée et validée avant remise en service.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20840" y="4343400"/>
            <a:ext cx="4983480" cy="20574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4489704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484632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s'intègre à Confluence, aux outils de code, à la CI/CD, via API/webhooks.</a:t>
            </a:r>
            <a:endParaRPr lang="en-US" sz="1250" dirty="0"/>
          </a:p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 clé : traçabilité continue de l'exigence à la livraison.</a:t>
            </a:r>
            <a:endParaRPr lang="en-US" sz="1250" dirty="0"/>
          </a:p>
          <a:p>
            <a:pPr algn="l" marL="127000" indent="-1270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contexte réglementé : un argument de conformité.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10469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l'instance — Prendre ses repères dans l'interface</a:t>
            </a:r>
            <a:endParaRPr lang="en-US" sz="2500" dirty="0"/>
          </a:p>
        </p:txBody>
      </p:sp>
      <p:pic>
        <p:nvPicPr>
          <p:cNvPr id="5" name="Image 0" descr="C:\Users\33695\Documents\AGI-JIRA\captures\cours\int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694944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234440"/>
            <a:ext cx="6949440" cy="3090672"/>
          </a:xfrm>
          <a:prstGeom prst="rect">
            <a:avLst/>
          </a:prstGeom>
          <a:ln w="12700">
            <a:solidFill>
              <a:srgbClr val="D4DE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4074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du projet AGI JIRA : barre latérale, onglets, bouton Créer.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4983480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Auto-évaluation —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dans le livret stagiaire, corrigés en annexe. Le livret corrigé des exercices montre cet atelier pas à pas.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1234440"/>
            <a:ext cx="3977640" cy="4572000"/>
          </a:xfrm>
          <a:prstGeom prst="roundRect">
            <a:avLst>
              <a:gd name="adj" fmla="val 206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14173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  ATELIER GUIDÉ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1828800"/>
            <a:ext cx="3520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Connectez-vous à votre instance Jira.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Repérez les 5 zones : recherche, Projets, Filtres, Tableaux de bord, Créer.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Ouvrez le projet et affichez la liste de ses demandes.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Ouvrez une demande et lisez son fil d'activité.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10469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l'instance — Créer les acteurs du projet MCO-AVION</a:t>
            </a:r>
            <a:endParaRPr lang="en-US" sz="2500" dirty="0"/>
          </a:p>
        </p:txBody>
      </p:sp>
      <p:pic>
        <p:nvPicPr>
          <p:cNvPr id="5" name="Image 0" descr="C:\Users\33695\Documents\AGI-JIRA\captures\cours\n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694944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234440"/>
            <a:ext cx="6949440" cy="3090672"/>
          </a:xfrm>
          <a:prstGeom prst="rect">
            <a:avLst/>
          </a:prstGeom>
          <a:ln w="12700">
            <a:solidFill>
              <a:srgbClr val="D4DE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4074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L'écran Accès du projet : utilisateurs et rôles (Administrateur).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4983480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Auto-évaluation —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dans le livret stagiaire, corrigés en annexe. Le livret corrigé des exercices montre cet atelier pas à pas.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1234440"/>
            <a:ext cx="3977640" cy="4572000"/>
          </a:xfrm>
          <a:prstGeom prst="roundRect">
            <a:avLst>
              <a:gd name="adj" fmla="val 206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14173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  ATELIER GUIDÉ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1828800"/>
            <a:ext cx="3520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Créez 3 comptes fictifs : investigateur, autorité de navigabilité, développeur.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Créez les groupes « mco-investigateurs » et « mco-navigabilite ».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Ajoutez les bons utilisateurs dans chaque groupe.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Vérifiez les groupes dans la fiche d'un utilisateur.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10469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l'instance — Structurer le projet MCO-AVION</a:t>
            </a:r>
            <a:endParaRPr lang="en-US" sz="2500" dirty="0"/>
          </a:p>
        </p:txBody>
      </p:sp>
      <p:pic>
        <p:nvPicPr>
          <p:cNvPr id="5" name="Image 0" descr="C:\Users\33695\Documents\AGI-JIRA\captures\cours\n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694944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234440"/>
            <a:ext cx="6949440" cy="3090672"/>
          </a:xfrm>
          <a:prstGeom prst="rect">
            <a:avLst/>
          </a:prstGeom>
          <a:ln w="12700">
            <a:solidFill>
              <a:srgbClr val="D4DE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4074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du projet : nom, clé d'espace, catégorie — l'écran Détails.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4983480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Auto-évaluation —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dans le livret stagiaire, corrigés en annexe. Le livret corrigé des exercices montre cet atelier pas à pas.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1234440"/>
            <a:ext cx="3977640" cy="4572000"/>
          </a:xfrm>
          <a:prstGeom prst="roundRect">
            <a:avLst>
              <a:gd name="adj" fmla="val 206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14173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  ATELIER GUIDÉ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1828800"/>
            <a:ext cx="3520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Créez (ou ouvrez) le projet MCO-AVION, clé MCO.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Ajoutez les 5 composants, un responsable par défaut sur l'un d'eux.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Créez les versions « v1.0 » et « Lot correctif 1 ».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Renseignez une version affectée sur une demande.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10469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l'instance — Sécuriser la clôture et la visibilité</a:t>
            </a:r>
            <a:endParaRPr lang="en-US" sz="2500" dirty="0"/>
          </a:p>
        </p:txBody>
      </p:sp>
      <p:pic>
        <p:nvPicPr>
          <p:cNvPr id="5" name="Image 0" descr="C:\Users\33695\Documents\AGI-JIRA\captures\exercices\a4_s2_permis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694944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234440"/>
            <a:ext cx="6949440" cy="3090672"/>
          </a:xfrm>
          <a:prstGeom prst="rect">
            <a:avLst/>
          </a:prstGeom>
          <a:ln w="12700">
            <a:solidFill>
              <a:srgbClr val="D4DE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4074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schéma d'autorisations du projet MCO : chaque permission est accordée à des rôles.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4983480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Auto-évaluation —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dans le livret stagiaire, corrigés en annexe. Le livret corrigé des exercices montre cet atelier pas à pas.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1234440"/>
            <a:ext cx="3977640" cy="4572000"/>
          </a:xfrm>
          <a:prstGeom prst="roundRect">
            <a:avLst>
              <a:gd name="adj" fmla="val 206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14173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  ATELIER GUIDÉ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1828800"/>
            <a:ext cx="3520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Affectez les groupes du module 2 aux rôles du projet.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Restreignez « Clôturer » au seul rôle Autorité de navigabilité.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Vérifiez que la clôture est refusée à un développeur.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Créez le niveau de sécurité « Diffusion restreinte » et testez la visibilité.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10469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l'instance — Adapter les demandes au métier MCO</a:t>
            </a:r>
            <a:endParaRPr lang="en-US" sz="2500" dirty="0"/>
          </a:p>
        </p:txBody>
      </p:sp>
      <p:pic>
        <p:nvPicPr>
          <p:cNvPr id="5" name="Image 0" descr="C:\Users\33695\Documents\AGI-JIRA\captures\cours\n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694944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234440"/>
            <a:ext cx="6949440" cy="3090672"/>
          </a:xfrm>
          <a:prstGeom prst="rect">
            <a:avLst/>
          </a:prstGeom>
          <a:ln w="12700">
            <a:solidFill>
              <a:srgbClr val="D4DE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4074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configuration du type Task : champs de description, champs du contexte, panneau Champs.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4983480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Auto-évaluation —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dans le livret stagiaire, corrigés en annexe. Le livret corrigé des exercices montre cet atelier pas à pas.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1234440"/>
            <a:ext cx="3977640" cy="4572000"/>
          </a:xfrm>
          <a:prstGeom prst="roundRect">
            <a:avLst>
              <a:gd name="adj" fmla="val 206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14173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  ATELIER GUIDÉ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1828800"/>
            <a:ext cx="3520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Créez les champs « Aéronef concerné » (liste) et « Criticité navigabilité ».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Organisez l'écran de création (champs pertinents seulement).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Créez une demande en renseignant vos nouveaux champs.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Enregistrez le filtre « Mes faits techniques ouverts » et partagez-le.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10469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l'instance — Piloter MCO-AVION d'un coup d'œil</a:t>
            </a:r>
            <a:endParaRPr lang="en-US" sz="2500" dirty="0"/>
          </a:p>
        </p:txBody>
      </p:sp>
      <p:pic>
        <p:nvPicPr>
          <p:cNvPr id="5" name="Image 0" descr="C:\Users\33695\Documents\AGI-JIRA\captures\exercices\a6_s3_dashboard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694944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234440"/>
            <a:ext cx="6949440" cy="3090672"/>
          </a:xfrm>
          <a:prstGeom prst="rect">
            <a:avLst/>
          </a:prstGeom>
          <a:ln w="12700">
            <a:solidFill>
              <a:srgbClr val="D4DE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4074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 « Pilotage MCO » : gadget camembert alimenté par un filtre.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4983480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Auto-évaluation —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dans le livret stagiaire, corrigés en annexe. Le livret corrigé des exercices montre cet atelier pas à pas.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1234440"/>
            <a:ext cx="3977640" cy="4572000"/>
          </a:xfrm>
          <a:prstGeom prst="roundRect">
            <a:avLst>
              <a:gd name="adj" fmla="val 206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14173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  ATELIER GUIDÉ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1828800"/>
            <a:ext cx="3520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Créez le tableau de bord « Pilotage MCO ».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Ajoutez les gadgets « par statut » et « par composant » (basés sur vos filtres).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Partagez le tableau de bord avec l'équipe.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Ouvrez la vue de workflow d'une demande.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10469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l'instance — Bâtir le workflow de navigabilité</a:t>
            </a:r>
            <a:endParaRPr lang="en-US" sz="2500" dirty="0"/>
          </a:p>
        </p:txBody>
      </p:sp>
      <p:pic>
        <p:nvPicPr>
          <p:cNvPr id="5" name="Image 0" descr="C:\Users\33695\Documents\AGI-JIRA\captures\exercices\a7_s3_diagramme_com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694944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234440"/>
            <a:ext cx="6949440" cy="3090672"/>
          </a:xfrm>
          <a:prstGeom prst="rect">
            <a:avLst/>
          </a:prstGeom>
          <a:ln w="12700">
            <a:solidFill>
              <a:srgbClr val="D4DE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4074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workflow de navigabilité dans l'éditeur : 6 statuts reliés par des transitions.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4983480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Auto-évaluation —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dans le livret stagiaire, corrigés en annexe. Le livret corrigé des exercices montre cet atelier pas à pas.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1234440"/>
            <a:ext cx="3977640" cy="4572000"/>
          </a:xfrm>
          <a:prstGeom prst="roundRect">
            <a:avLst>
              <a:gd name="adj" fmla="val 206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14173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  ATELIER GUIDÉ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1828800"/>
            <a:ext cx="3520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Créez la chaîne Signalé → Trié → En investigation → Corrigé → Validation navigabilité → Clôturé.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Condition sur la transition vers Clôturé : rôle Autorité de navigabilité.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Post-fonction : renseigner la résolution à la clôture.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Testez sur une demande réelle avec deux rôles différents.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10469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l'instance — Interroger et exporter les données MCO</a:t>
            </a:r>
            <a:endParaRPr lang="en-US" sz="2500" dirty="0"/>
          </a:p>
        </p:txBody>
      </p:sp>
      <p:pic>
        <p:nvPicPr>
          <p:cNvPr id="5" name="Image 0" descr="C:\Users\33695\Documents\AGI-JIRA\captures\cours\n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694944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234440"/>
            <a:ext cx="6949440" cy="3090672"/>
          </a:xfrm>
          <a:prstGeom prst="rect">
            <a:avLst/>
          </a:prstGeom>
          <a:ln w="12700">
            <a:solidFill>
              <a:srgbClr val="D4DE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4074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recherche de tickets : requête + tableau de résultats triables.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4983480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Auto-évaluation —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dans le livret stagiaire, corrigés en annexe. Le livret corrigé des exercices montre cet atelier pas à pas.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1234440"/>
            <a:ext cx="3977640" cy="4572000"/>
          </a:xfrm>
          <a:prstGeom prst="roundRect">
            <a:avLst>
              <a:gd name="adj" fmla="val 206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14173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  ATELIER GUIDÉ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1828800"/>
            <a:ext cx="3520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Requête simple : project = "MCO".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Affinez avec un statut (attention au nom interne, ex. "To Do").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Ajoutez ORDER BY priority DESC et enregistrez en filtre.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Ouvrez le menu Exporter (CSV/Excel) et un rapport intégré.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10469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l'instance — Dérouler un sprint sur MCO-AVION</a:t>
            </a:r>
            <a:endParaRPr lang="en-US" sz="2500" dirty="0"/>
          </a:p>
        </p:txBody>
      </p:sp>
      <p:pic>
        <p:nvPicPr>
          <p:cNvPr id="5" name="Image 0" descr="C:\Users\33695\Documents\AGI-JIRA\captures\exercices\a9_s7_board_avanc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694944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234440"/>
            <a:ext cx="6949440" cy="3090672"/>
          </a:xfrm>
          <a:prstGeom prst="rect">
            <a:avLst/>
          </a:prstGeom>
          <a:ln w="12700">
            <a:solidFill>
              <a:srgbClr val="D4DE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4074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board du sprint actif : les cartes avancent de TO DO vers DONE.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4983480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Auto-évaluation —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dans le livret stagiaire, corrigés en annexe. Le livret corrigé des exercices montre cet atelier pas à pas.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1234440"/>
            <a:ext cx="3977640" cy="4572000"/>
          </a:xfrm>
          <a:prstGeom prst="roundRect">
            <a:avLst>
              <a:gd name="adj" fmla="val 206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14173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  ATELIER GUIDÉ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1828800"/>
            <a:ext cx="3520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Créez 4 user stories « En tant que…, je veux…, afin de… ».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Priorisez-les dans le backlog.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Planifiez un sprint, ajoutez-y des éléments, démarrez-le.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Déplacez des tickets sur le board, puis lisez le burndown/burnup.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Glossaire express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731520"/>
          </a:xfrm>
          <a:prstGeom prst="roundRect">
            <a:avLst>
              <a:gd name="adj" fmla="val 1125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80744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(issue) —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central, identifié par une clé (MCO-142)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63640" y="1325880"/>
            <a:ext cx="5440680" cy="731520"/>
          </a:xfrm>
          <a:prstGeom prst="roundRect">
            <a:avLst>
              <a:gd name="adj" fmla="val 1125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1380744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—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 unique du projet, repris dans chaque demande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5440680" cy="731520"/>
          </a:xfrm>
          <a:prstGeom prst="roundRect">
            <a:avLst>
              <a:gd name="adj" fmla="val 1125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21992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 / Version —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subdivision interne · jalon de livraison (affectée / corrigée)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167128"/>
            <a:ext cx="5440680" cy="731520"/>
          </a:xfrm>
          <a:prstGeom prst="roundRect">
            <a:avLst>
              <a:gd name="adj" fmla="val 1125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221992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/ Rôle —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à l'instance · défini au niveau du projet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08376"/>
            <a:ext cx="5440680" cy="731520"/>
          </a:xfrm>
          <a:prstGeom prst="roundRect">
            <a:avLst>
              <a:gd name="adj" fmla="val 1125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63240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—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réutilisable partagée par plusieurs projets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008376"/>
            <a:ext cx="5440680" cy="731520"/>
          </a:xfrm>
          <a:prstGeom prst="roundRect">
            <a:avLst>
              <a:gd name="adj" fmla="val 1125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063240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—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 des champs affichés (création, édition, visualisation)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49624"/>
            <a:ext cx="5440680" cy="731520"/>
          </a:xfrm>
          <a:prstGeom prst="roundRect">
            <a:avLst>
              <a:gd name="adj" fmla="val 1125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04488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/ Résolution —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en est la demande · comment elle s'est terminée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849624"/>
            <a:ext cx="5440680" cy="731520"/>
          </a:xfrm>
          <a:prstGeom prst="roundRect">
            <a:avLst>
              <a:gd name="adj" fmla="val 1125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904488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Transition —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· passage autorisé (conditions, validateurs, post-fonctions)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90872"/>
            <a:ext cx="5440680" cy="731520"/>
          </a:xfrm>
          <a:prstGeom prst="roundRect">
            <a:avLst>
              <a:gd name="adj" fmla="val 1125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745736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/ JQL —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enregistrée · langage de recherche avancée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690872"/>
            <a:ext cx="5440680" cy="731520"/>
          </a:xfrm>
          <a:prstGeom prst="roundRect">
            <a:avLst>
              <a:gd name="adj" fmla="val 1125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745736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/ Sprint —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priorisée · itération de durée fixe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5440680" cy="731520"/>
          </a:xfrm>
          <a:prstGeom prst="roundRect">
            <a:avLst>
              <a:gd name="adj" fmla="val 1125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586984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—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 gadgets alimentés par des filtres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5532120"/>
            <a:ext cx="5440680" cy="731520"/>
          </a:xfrm>
          <a:prstGeom prst="roundRect">
            <a:avLst>
              <a:gd name="adj" fmla="val 11250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5586984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/ Vélocité —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restant · capacité réalisée par sprint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vous de jouer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41248" y="25146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ateliers guidés vous attendent sur l'instance de formation — le livret corrigé montre chaque manipulation, écran par écran.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35204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Livret de cours illustré  </a:t>
            </a:r>
            <a:pPr indent="0" marL="0"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notions, schémas et captures réelles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4233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423367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Livret corrigé des exercices  </a:t>
            </a:r>
            <a:pPr indent="0" marL="0"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les 9 ateliers réalisés pas à pas (56 captures)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9469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4946904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mco-avion.atlassian.net  </a:t>
            </a:r>
            <a:pPr indent="0" marL="0"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projets AGI JIRA (SCRUM) et MCO-AVION (MCO)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56601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5660136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community.atlassian.com  </a:t>
            </a:r>
            <a:pPr indent="0" marL="0"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et la documentation officielle Atlassian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66960" y="484632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2B3A78"/>
                </a:solidFill>
              </a:rPr>
              <a:t>✈</a:t>
            </a:r>
            <a:endParaRPr lang="en-US" sz="9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Livret de cours Jira — AGI-JIRA / MCO-AVION</dc:title>
  <dc:subject>PptxGenJS Presentation</dc:subject>
  <dc:creator>Formation AGI-JIRA</dc:creator>
  <cp:lastModifiedBy>Formation AGI-JIRA</cp:lastModifiedBy>
  <cp:revision>1</cp:revision>
  <dcterms:created xsi:type="dcterms:W3CDTF">2026-07-06T04:17:20Z</dcterms:created>
  <dcterms:modified xsi:type="dcterms:W3CDTF">2026-07-06T04:17:20Z</dcterms:modified>
</cp:coreProperties>
</file>